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>
  <p:sldMasterIdLst>
    <p:sldMasterId id="2147483660" r:id="rId1"/>
    <p:sldMasterId id="2147483648" r:id="rId2"/>
    <p:sldMasterId id="2147483666" r:id="rId3"/>
  </p:sldMasterIdLst>
  <p:notesMasterIdLst>
    <p:notesMasterId r:id="rId16"/>
  </p:notesMasterIdLst>
  <p:handoutMasterIdLst>
    <p:handoutMasterId r:id="rId17"/>
  </p:handoutMasterIdLst>
  <p:sldIdLst>
    <p:sldId id="290" r:id="rId4"/>
    <p:sldId id="287" r:id="rId5"/>
    <p:sldId id="293" r:id="rId6"/>
    <p:sldId id="294" r:id="rId7"/>
    <p:sldId id="296" r:id="rId8"/>
    <p:sldId id="297" r:id="rId9"/>
    <p:sldId id="298" r:id="rId10"/>
    <p:sldId id="299" r:id="rId11"/>
    <p:sldId id="302" r:id="rId12"/>
    <p:sldId id="301" r:id="rId13"/>
    <p:sldId id="292" r:id="rId14"/>
    <p:sldId id="304" r:id="rId15"/>
  </p:sldIdLst>
  <p:sldSz cx="9144000" cy="5143500" type="screen16x9"/>
  <p:notesSz cx="6858000" cy="9144000"/>
  <p:embeddedFontLst>
    <p:embeddedFont>
      <p:font typeface="Roboto Condensed" panose="02000000000000000000" pitchFamily="2" charset="0"/>
      <p:regular r:id="rId18"/>
      <p:bold r:id="rId19"/>
      <p:italic r:id="rId20"/>
      <p:boldItalic r:id="rId21"/>
    </p:embeddedFont>
    <p:embeddedFont>
      <p:font typeface="Roboto Serif"/>
      <p:regular r:id="rId22"/>
      <p:bold r:id="rId23"/>
      <p:italic r:id="rId24"/>
      <p:boldItalic r:id="rId25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BC5FAFD-A3AD-BC48-B16B-CBA60CD7E84B}">
          <p14:sldIdLst>
            <p14:sldId id="290"/>
            <p14:sldId id="287"/>
            <p14:sldId id="293"/>
            <p14:sldId id="294"/>
            <p14:sldId id="296"/>
            <p14:sldId id="297"/>
            <p14:sldId id="298"/>
            <p14:sldId id="299"/>
            <p14:sldId id="302"/>
            <p14:sldId id="301"/>
            <p14:sldId id="292"/>
            <p14:sldId id="30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ne Bukatz" initials="SB" lastIdx="6" clrIdx="0">
    <p:extLst>
      <p:ext uri="{19B8F6BF-5375-455C-9EA6-DF929625EA0E}">
        <p15:presenceInfo xmlns:p15="http://schemas.microsoft.com/office/powerpoint/2012/main" userId="S-1-5-21-866499592-3592028529-3545064460-94181" providerId="AD"/>
      </p:ext>
    </p:extLst>
  </p:cmAuthor>
  <p:cmAuthor id="2" name="Susanne Bukatz" initials="SB [2]" lastIdx="15" clrIdx="1">
    <p:extLst>
      <p:ext uri="{19B8F6BF-5375-455C-9EA6-DF929625EA0E}">
        <p15:presenceInfo xmlns:p15="http://schemas.microsoft.com/office/powerpoint/2012/main" userId="Susanne Bukatz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864"/>
    <a:srgbClr val="8A1878"/>
    <a:srgbClr val="FFFFFF"/>
    <a:srgbClr val="002F5D"/>
    <a:srgbClr val="BD9F21"/>
    <a:srgbClr val="FFBE64"/>
    <a:srgbClr val="F0AA46"/>
    <a:srgbClr val="F0A050"/>
    <a:srgbClr val="FFB464"/>
    <a:srgbClr val="FABE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61" autoAdjust="0"/>
    <p:restoredTop sz="91429" autoAdjust="0"/>
  </p:normalViewPr>
  <p:slideViewPr>
    <p:cSldViewPr snapToGrid="0" snapToObjects="1">
      <p:cViewPr varScale="1">
        <p:scale>
          <a:sx n="156" d="100"/>
          <a:sy n="156" d="100"/>
        </p:scale>
        <p:origin x="800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napToObjects="1" showGuides="1">
      <p:cViewPr varScale="1">
        <p:scale>
          <a:sx n="96" d="100"/>
          <a:sy n="96" d="100"/>
        </p:scale>
        <p:origin x="2706" y="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1.fntdata"/><Relationship Id="rId26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4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7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font" Target="fonts/font2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2642F8-4030-468B-846F-DE3B6AB6CE0D}" type="datetimeFigureOut">
              <a:rPr lang="de-DE" smtClean="0"/>
              <a:t>06.04.26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6AA542-7317-4AC6-A4A4-9C0CA743576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24962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AB2040-EA4D-4002-BC41-13AC0377AF84}" type="datetimeFigureOut">
              <a:rPr lang="de-DE" smtClean="0"/>
              <a:t>06.04.26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ADD7A-5464-40FD-B5CC-4CA36D7CC1F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5305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81911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4DB67-6C57-DF2E-23D5-181C00E0A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256B0A5-A9E3-057B-8C63-4D72D212CC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F4B3125-996F-AD19-FF48-972777B11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B8E374A-8FA0-A282-560A-F152A9D2D7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236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166A1-2D25-9049-0CCC-FA5296B5E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D7314B3-16C8-2337-B8C9-A8E406930C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F0F948C-53AC-0927-4F03-620AB27DF1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Die bewusste Trennung der BKA-Dateien nach Nationalität war der absolut entscheidende Schritt, um die harte Projektvorgabe nach einem gemeinsamen Attribut in allen drei Datensätzen zu erfüllen.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AC489A6-0EE8-BFEA-74E4-14F7FBEE2D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3817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A2917-7E27-355A-6C7F-05A6CF0BE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1B9A7CF-0AE1-BFA7-E563-2D83843312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598B64A-1F89-FE78-955B-F9F5CB373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D19BCFA-690A-9303-252B-97F3E9BFDC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3324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4E654-41A1-3A46-9FB5-F380A2559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B7F9A1A-79BA-BE23-2AA0-5AC35587F0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FCC67F8-413A-D1BB-02E4-0E4096A30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2B634D2-0F8A-0B01-49B3-8B7FABBBB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50074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D576B-8079-3895-863C-278B87F89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6B189F7-DFE9-519B-C604-A49C3391F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CB4D35A-CBE2-1E97-A0A8-E11F7E07F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494857B-C481-69A1-3462-BD1360F09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24016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07E94-807A-3F14-51CF-CF74243CC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A064D82-73A7-DDEE-475F-7B11844686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AEBE90A-EB20-1611-834D-189494BE45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83E5868-8352-0E97-1541-58FC8F57F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77613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3878B-205C-80C4-7971-36029CE07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76E06EE-8B65-4C36-285D-51BE2136D6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31851E7-F67D-1C8F-04DC-7250D6D090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F559E06-DF93-3F71-A4ED-2CE1487FC8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1882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42882-5A32-2AAC-5841-EFDD8D8D6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B49C1A6-8D57-EDE0-92CF-B55563D5A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752A926-610A-EE1B-BD5A-3405EB4A1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6DEF7C2-731C-7FDC-3BBB-8E4D04528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18269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F6E9C-ABE0-64E1-6724-44BED4968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5411986-AAF5-8DEE-562A-1943A2344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0CE7E2C-8ADD-70E5-FBE0-0FA770D1AC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8EE123A-F87C-2A25-A28B-267A9C7D4D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6174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Projekt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37D85B5-8F26-48F9-9A40-02AA946E00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313" y="3429237"/>
            <a:ext cx="8207374" cy="350838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800" spc="0" baseline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Prof. Dr. Mustermann oder Projekttitel</a:t>
            </a:r>
            <a:endParaRPr lang="de-DE" sz="1800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81B82292-8AF2-4EE1-90BD-12581586030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8313" y="3962400"/>
            <a:ext cx="8207375" cy="447675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3200" b="0">
                <a:latin typeface="+mj-lt"/>
              </a:defRPr>
            </a:lvl1pPr>
          </a:lstStyle>
          <a:p>
            <a:pPr lvl="0"/>
            <a:r>
              <a:rPr lang="de-DE" dirty="0"/>
              <a:t>Titel der Präsentation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7121927E-5D27-4DA4-91BE-50EAE7ABB6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788" y="4410312"/>
            <a:ext cx="8207374" cy="350838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2200" i="0" spc="0" baseline="0"/>
            </a:lvl1pPr>
          </a:lstStyle>
          <a:p>
            <a:pPr lvl="0"/>
            <a:r>
              <a:rPr lang="de-D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227768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chrift und Text |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2999580" y="4710243"/>
            <a:ext cx="5234783" cy="164805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lang="de-DE" sz="10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de-DE" dirty="0"/>
              <a:t>Titel der Veranstaltung</a:t>
            </a:r>
          </a:p>
        </p:txBody>
      </p:sp>
      <p:sp>
        <p:nvSpPr>
          <p:cNvPr id="6" name="Textplatzhalter 24"/>
          <p:cNvSpPr txBox="1">
            <a:spLocks/>
          </p:cNvSpPr>
          <p:nvPr userDrawn="1"/>
        </p:nvSpPr>
        <p:spPr>
          <a:xfrm>
            <a:off x="8234363" y="4884574"/>
            <a:ext cx="453230" cy="15420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 sz="1000" kern="1200" baseline="0" dirty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822FCD78-D96D-4F80-9AD7-6954839C45E1}" type="slidenum">
              <a:rPr lang="de-DE" smtClean="0">
                <a:solidFill>
                  <a:srgbClr val="002F5D"/>
                </a:solidFill>
                <a:latin typeface="Roboto Condensed" pitchFamily="2" charset="0"/>
                <a:ea typeface="Roboto Condensed" pitchFamily="2" charset="0"/>
              </a:rPr>
              <a:pPr>
                <a:defRPr/>
              </a:pPr>
              <a:t>‹#›</a:t>
            </a:fld>
            <a:endParaRPr lang="de-DE" dirty="0">
              <a:solidFill>
                <a:srgbClr val="002F5D"/>
              </a:solidFill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8" name="Rechteck 7"/>
          <p:cNvSpPr/>
          <p:nvPr userDrawn="1"/>
        </p:nvSpPr>
        <p:spPr>
          <a:xfrm flipV="1">
            <a:off x="-1" y="4500000"/>
            <a:ext cx="4590000" cy="396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/>
          <p:cNvPicPr preferRelativeResize="0"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382" y="4500000"/>
            <a:ext cx="4572000" cy="39600"/>
          </a:xfrm>
          <a:prstGeom prst="rect">
            <a:avLst/>
          </a:prstGeom>
        </p:spPr>
      </p:pic>
      <p:sp>
        <p:nvSpPr>
          <p:cNvPr id="7" name="Textplatzhalter 24">
            <a:extLst>
              <a:ext uri="{FF2B5EF4-FFF2-40B4-BE49-F238E27FC236}">
                <a16:creationId xmlns:a16="http://schemas.microsoft.com/office/drawing/2014/main" id="{7F43C94D-9979-47C0-B4BE-2FC43A65CA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99579" y="4888263"/>
            <a:ext cx="5234783" cy="164805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lang="de-DE" sz="1000" i="1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de-DE" dirty="0"/>
              <a:t>Prof. Dr. Mustermann | Datum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0F45C553-1950-485B-A6E2-DF7EBF7E04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2438" y="447675"/>
            <a:ext cx="8239125" cy="571504"/>
          </a:xfrm>
        </p:spPr>
        <p:txBody>
          <a:bodyPr l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de-DE" dirty="0"/>
              <a:t>Text durch Klicken bearbeiten</a:t>
            </a:r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B87AC671-D060-4A57-A554-255C900A9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2438" y="1095376"/>
            <a:ext cx="8239125" cy="2952750"/>
          </a:xfrm>
        </p:spPr>
        <p:txBody>
          <a:bodyPr/>
          <a:lstStyle>
            <a:lvl1pPr eaLnBrk="1" latinLnBrk="0" hangingPunct="1">
              <a:defRPr sz="2200"/>
            </a:lvl1pPr>
            <a:lvl2pPr marL="432000" indent="-216000" eaLnBrk="1" latinLnBrk="0" hangingPunct="1">
              <a:buFont typeface="Arial" pitchFamily="34" charset="0"/>
              <a:buChar char="•"/>
              <a:defRPr sz="2000"/>
            </a:lvl2pPr>
            <a:lvl3pPr marL="684000" indent="-216000" eaLnBrk="1" latinLnBrk="0" hangingPunct="1">
              <a:buFont typeface="Arial" pitchFamily="34" charset="0"/>
              <a:buChar char="•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de-DE" dirty="0"/>
              <a:t>Textmasterformat bearbeiten</a:t>
            </a:r>
          </a:p>
          <a:p>
            <a:pPr lvl="1" eaLnBrk="1" latinLnBrk="0" hangingPunct="1"/>
            <a:r>
              <a:rPr lang="de-DE" dirty="0"/>
              <a:t>Zweite Ebene</a:t>
            </a:r>
          </a:p>
          <a:p>
            <a:pPr lvl="2" eaLnBrk="1" latinLnBrk="0" hangingPunct="1"/>
            <a:r>
              <a:rPr lang="de-DE" dirty="0"/>
              <a:t>Dritte Ebene</a:t>
            </a:r>
          </a:p>
        </p:txBody>
      </p:sp>
      <p:cxnSp>
        <p:nvCxnSpPr>
          <p:cNvPr id="13" name="Gerade Verbindung 9">
            <a:extLst>
              <a:ext uri="{FF2B5EF4-FFF2-40B4-BE49-F238E27FC236}">
                <a16:creationId xmlns:a16="http://schemas.microsoft.com/office/drawing/2014/main" id="{777BF0FE-2C6F-41A8-AB53-05C956AC5A2D}"/>
              </a:ext>
            </a:extLst>
          </p:cNvPr>
          <p:cNvCxnSpPr/>
          <p:nvPr userDrawn="1"/>
        </p:nvCxnSpPr>
        <p:spPr>
          <a:xfrm>
            <a:off x="449704" y="339502"/>
            <a:ext cx="450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441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3" orient="horz" pos="282">
          <p15:clr>
            <a:srgbClr val="FBAE40"/>
          </p15:clr>
        </p15:guide>
        <p15:guide id="24" orient="horz" pos="3150">
          <p15:clr>
            <a:srgbClr val="FBAE40"/>
          </p15:clr>
        </p15:guide>
        <p15:guide id="25" orient="horz" pos="690">
          <p15:clr>
            <a:srgbClr val="FBAE40"/>
          </p15:clr>
        </p15:guide>
        <p15:guide id="26" orient="horz" pos="894">
          <p15:clr>
            <a:srgbClr val="FBAE40"/>
          </p15:clr>
        </p15:guide>
        <p15:guide id="27" orient="horz" pos="255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2999580" y="4710243"/>
            <a:ext cx="5234783" cy="164805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lang="de-DE" sz="10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de-DE" dirty="0"/>
              <a:t>Titel der Veranstaltung</a:t>
            </a:r>
          </a:p>
        </p:txBody>
      </p:sp>
      <p:sp>
        <p:nvSpPr>
          <p:cNvPr id="6" name="Textplatzhalter 24"/>
          <p:cNvSpPr txBox="1">
            <a:spLocks/>
          </p:cNvSpPr>
          <p:nvPr userDrawn="1"/>
        </p:nvSpPr>
        <p:spPr>
          <a:xfrm>
            <a:off x="8234363" y="4884574"/>
            <a:ext cx="453230" cy="15420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 sz="1000" kern="1200" baseline="0" dirty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822FCD78-D96D-4F80-9AD7-6954839C45E1}" type="slidenum">
              <a:rPr lang="de-DE" smtClean="0">
                <a:solidFill>
                  <a:srgbClr val="002F5D"/>
                </a:solidFill>
                <a:latin typeface="Roboto Condensed" pitchFamily="2" charset="0"/>
                <a:ea typeface="Roboto Condensed" pitchFamily="2" charset="0"/>
              </a:rPr>
              <a:pPr>
                <a:defRPr/>
              </a:pPr>
              <a:t>‹#›</a:t>
            </a:fld>
            <a:endParaRPr lang="de-DE" dirty="0">
              <a:solidFill>
                <a:srgbClr val="002F5D"/>
              </a:solidFill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8" name="Rechteck 7"/>
          <p:cNvSpPr/>
          <p:nvPr userDrawn="1"/>
        </p:nvSpPr>
        <p:spPr>
          <a:xfrm flipV="1">
            <a:off x="-1" y="4500000"/>
            <a:ext cx="4590000" cy="396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/>
          <p:cNvPicPr preferRelativeResize="0"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382" y="4500000"/>
            <a:ext cx="4572000" cy="39600"/>
          </a:xfrm>
          <a:prstGeom prst="rect">
            <a:avLst/>
          </a:prstGeom>
        </p:spPr>
      </p:pic>
      <p:sp>
        <p:nvSpPr>
          <p:cNvPr id="7" name="Textplatzhalter 24">
            <a:extLst>
              <a:ext uri="{FF2B5EF4-FFF2-40B4-BE49-F238E27FC236}">
                <a16:creationId xmlns:a16="http://schemas.microsoft.com/office/drawing/2014/main" id="{7F43C94D-9979-47C0-B4BE-2FC43A65CA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99579" y="4888263"/>
            <a:ext cx="5234783" cy="164805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lang="de-DE" sz="1000" i="1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de-DE" dirty="0"/>
              <a:t>Prof. Dr. Mustermann | Datum</a:t>
            </a:r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B87AC671-D060-4A57-A554-255C900A9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2438" y="447675"/>
            <a:ext cx="8239125" cy="3600451"/>
          </a:xfrm>
        </p:spPr>
        <p:txBody>
          <a:bodyPr/>
          <a:lstStyle>
            <a:lvl1pPr eaLnBrk="1" latinLnBrk="0" hangingPunct="1">
              <a:defRPr sz="2200"/>
            </a:lvl1pPr>
            <a:lvl2pPr marL="432000" indent="-216000" eaLnBrk="1" latinLnBrk="0" hangingPunct="1">
              <a:buFont typeface="Arial" pitchFamily="34" charset="0"/>
              <a:buChar char="•"/>
              <a:defRPr sz="2000"/>
            </a:lvl2pPr>
            <a:lvl3pPr marL="684000" indent="-216000" eaLnBrk="1" latinLnBrk="0" hangingPunct="1">
              <a:buFont typeface="Arial" pitchFamily="34" charset="0"/>
              <a:buChar char="•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de-DE" dirty="0"/>
              <a:t>Textmasterformat bearbeiten</a:t>
            </a:r>
          </a:p>
          <a:p>
            <a:pPr lvl="1" eaLnBrk="1" latinLnBrk="0" hangingPunct="1"/>
            <a:r>
              <a:rPr lang="de-DE" dirty="0"/>
              <a:t>Zweite Ebene</a:t>
            </a:r>
          </a:p>
          <a:p>
            <a:pPr lvl="2" eaLnBrk="1" latinLnBrk="0" hangingPunct="1"/>
            <a:r>
              <a:rPr lang="de-DE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2776908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3" orient="horz" pos="282">
          <p15:clr>
            <a:srgbClr val="FBAE40"/>
          </p15:clr>
        </p15:guide>
        <p15:guide id="24" orient="horz" pos="3150">
          <p15:clr>
            <a:srgbClr val="FBAE40"/>
          </p15:clr>
        </p15:guide>
        <p15:guide id="25" orient="horz" pos="690">
          <p15:clr>
            <a:srgbClr val="FBAE40"/>
          </p15:clr>
        </p15:guide>
        <p15:guide id="26" orient="horz" pos="894">
          <p15:clr>
            <a:srgbClr val="FBAE40"/>
          </p15:clr>
        </p15:guide>
        <p15:guide id="27" orient="horz" pos="255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81B82292-8AF2-4EE1-90BD-12581586030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8313" y="3943350"/>
            <a:ext cx="8207375" cy="447675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3200" b="0">
                <a:latin typeface="+mj-lt"/>
              </a:defRPr>
            </a:lvl1pPr>
          </a:lstStyle>
          <a:p>
            <a:pPr lvl="0"/>
            <a:r>
              <a:rPr lang="de-DE" dirty="0"/>
              <a:t>Vielen Dank für Ihre Aufmerksamkeit!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7121927E-5D27-4DA4-91BE-50EAE7ABB6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788" y="4410312"/>
            <a:ext cx="8207374" cy="350838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2200" i="0" spc="0" baseline="0"/>
            </a:lvl1pPr>
          </a:lstStyle>
          <a:p>
            <a:pPr lvl="0"/>
            <a:r>
              <a:rPr lang="de-DE" dirty="0"/>
              <a:t>Prof. Dr. Mustermann</a:t>
            </a:r>
          </a:p>
        </p:txBody>
      </p:sp>
    </p:spTree>
    <p:extLst>
      <p:ext uri="{BB962C8B-B14F-4D97-AF65-F5344CB8AC3E}">
        <p14:creationId xmlns:p14="http://schemas.microsoft.com/office/powerpoint/2010/main" val="2796292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0668A02D-DFF2-42B1-B020-E80114A2C164}"/>
              </a:ext>
            </a:extLst>
          </p:cNvPr>
          <p:cNvSpPr/>
          <p:nvPr userDrawn="1"/>
        </p:nvSpPr>
        <p:spPr>
          <a:xfrm>
            <a:off x="-1" y="3001788"/>
            <a:ext cx="9144000" cy="21417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9A307A5-F3BD-449F-A720-99606ECBF1AE}"/>
              </a:ext>
            </a:extLst>
          </p:cNvPr>
          <p:cNvSpPr/>
          <p:nvPr userDrawn="1"/>
        </p:nvSpPr>
        <p:spPr>
          <a:xfrm flipV="1">
            <a:off x="-1" y="2970213"/>
            <a:ext cx="4590000" cy="792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E0A91951-814D-4494-BDFC-29391A6A7ED9}"/>
              </a:ext>
            </a:extLst>
          </p:cNvPr>
          <p:cNvPicPr preferRelativeResize="0">
            <a:picLocks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382" y="2970213"/>
            <a:ext cx="4572000" cy="79200"/>
          </a:xfrm>
          <a:prstGeom prst="rect">
            <a:avLst/>
          </a:prstGeom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A5BE7D61-1263-4ED2-9CBA-3F828FF445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4297" y="447675"/>
            <a:ext cx="1568856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8866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1800" kern="1200" spc="2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22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11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 typeface="Arial" panose="020B0604020202020204" pitchFamily="34" charset="0"/>
        <a:buNone/>
        <a:defRPr sz="9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5465" userDrawn="1">
          <p15:clr>
            <a:srgbClr val="F26B43"/>
          </p15:clr>
        </p15:guide>
        <p15:guide id="3" pos="295" userDrawn="1">
          <p15:clr>
            <a:srgbClr val="F26B43"/>
          </p15:clr>
        </p15:guide>
        <p15:guide id="4" orient="horz" pos="2958" userDrawn="1">
          <p15:clr>
            <a:srgbClr val="F26B43"/>
          </p15:clr>
        </p15:guide>
        <p15:guide id="5" orient="horz" pos="28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187565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»Fünfte Ebene mit Anführungszeichen«</a:t>
            </a:r>
          </a:p>
        </p:txBody>
      </p:sp>
      <p:sp>
        <p:nvSpPr>
          <p:cNvPr id="11" name="Rechteck 10"/>
          <p:cNvSpPr/>
          <p:nvPr userDrawn="1"/>
        </p:nvSpPr>
        <p:spPr>
          <a:xfrm>
            <a:off x="-1" y="4500000"/>
            <a:ext cx="9144000" cy="64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3822" y="4644000"/>
            <a:ext cx="1045904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4529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8" r:id="rId2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1800" kern="1200" spc="2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22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11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 typeface="Arial" panose="020B0604020202020204" pitchFamily="34" charset="0"/>
        <a:buNone/>
        <a:defRPr sz="9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880">
          <p15:clr>
            <a:srgbClr val="F26B43"/>
          </p15:clr>
        </p15:guide>
        <p15:guide id="3" pos="3170">
          <p15:clr>
            <a:srgbClr val="F26B43"/>
          </p15:clr>
        </p15:guide>
        <p15:guide id="4" pos="3459">
          <p15:clr>
            <a:srgbClr val="F26B43"/>
          </p15:clr>
        </p15:guide>
        <p15:guide id="5" pos="3746">
          <p15:clr>
            <a:srgbClr val="F26B43"/>
          </p15:clr>
        </p15:guide>
        <p15:guide id="6" pos="4035">
          <p15:clr>
            <a:srgbClr val="F26B43"/>
          </p15:clr>
        </p15:guide>
        <p15:guide id="7" pos="4323">
          <p15:clr>
            <a:srgbClr val="F26B43"/>
          </p15:clr>
        </p15:guide>
        <p15:guide id="8" pos="4611">
          <p15:clr>
            <a:srgbClr val="F26B43"/>
          </p15:clr>
        </p15:guide>
        <p15:guide id="9" pos="4899">
          <p15:clr>
            <a:srgbClr val="F26B43"/>
          </p15:clr>
        </p15:guide>
        <p15:guide id="10" pos="5187">
          <p15:clr>
            <a:srgbClr val="F26B43"/>
          </p15:clr>
        </p15:guide>
        <p15:guide id="11" pos="5475">
          <p15:clr>
            <a:srgbClr val="F26B43"/>
          </p15:clr>
        </p15:guide>
        <p15:guide id="12" pos="2589">
          <p15:clr>
            <a:srgbClr val="F26B43"/>
          </p15:clr>
        </p15:guide>
        <p15:guide id="13" pos="2301">
          <p15:clr>
            <a:srgbClr val="F26B43"/>
          </p15:clr>
        </p15:guide>
        <p15:guide id="14" pos="2013">
          <p15:clr>
            <a:srgbClr val="F26B43"/>
          </p15:clr>
        </p15:guide>
        <p15:guide id="15" pos="1725">
          <p15:clr>
            <a:srgbClr val="F26B43"/>
          </p15:clr>
        </p15:guide>
        <p15:guide id="16" pos="1437">
          <p15:clr>
            <a:srgbClr val="F26B43"/>
          </p15:clr>
        </p15:guide>
        <p15:guide id="17" pos="1149">
          <p15:clr>
            <a:srgbClr val="F26B43"/>
          </p15:clr>
        </p15:guide>
        <p15:guide id="18" pos="862">
          <p15:clr>
            <a:srgbClr val="F26B43"/>
          </p15:clr>
        </p15:guide>
        <p15:guide id="19" pos="573">
          <p15:clr>
            <a:srgbClr val="F26B43"/>
          </p15:clr>
        </p15:guide>
        <p15:guide id="20" pos="285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0668A02D-DFF2-42B1-B020-E80114A2C164}"/>
              </a:ext>
            </a:extLst>
          </p:cNvPr>
          <p:cNvSpPr/>
          <p:nvPr userDrawn="1"/>
        </p:nvSpPr>
        <p:spPr>
          <a:xfrm>
            <a:off x="-1" y="3601863"/>
            <a:ext cx="9144000" cy="15416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9A307A5-F3BD-449F-A720-99606ECBF1AE}"/>
              </a:ext>
            </a:extLst>
          </p:cNvPr>
          <p:cNvSpPr/>
          <p:nvPr userDrawn="1"/>
        </p:nvSpPr>
        <p:spPr>
          <a:xfrm flipV="1">
            <a:off x="-1" y="3522663"/>
            <a:ext cx="4590000" cy="792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E0A91951-814D-4494-BDFC-29391A6A7ED9}"/>
              </a:ext>
            </a:extLst>
          </p:cNvPr>
          <p:cNvPicPr preferRelativeResize="0">
            <a:picLocks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382" y="3522663"/>
            <a:ext cx="4572000" cy="79200"/>
          </a:xfrm>
          <a:prstGeom prst="rect">
            <a:avLst/>
          </a:prstGeom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A5BE7D61-1263-4ED2-9CBA-3F828FF445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4297" y="447675"/>
            <a:ext cx="1568856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9242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1800" kern="1200" spc="2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22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11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 typeface="Arial" panose="020B0604020202020204" pitchFamily="34" charset="0"/>
        <a:buNone/>
        <a:defRPr sz="9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5465">
          <p15:clr>
            <a:srgbClr val="F26B43"/>
          </p15:clr>
        </p15:guide>
        <p15:guide id="3" pos="295">
          <p15:clr>
            <a:srgbClr val="F26B43"/>
          </p15:clr>
        </p15:guide>
        <p15:guide id="4" orient="horz" pos="2958">
          <p15:clr>
            <a:srgbClr val="F26B43"/>
          </p15:clr>
        </p15:guide>
        <p15:guide id="5" orient="horz" pos="28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4D67665D-A8B7-4916-8278-DA9462A0A3E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8312" y="3766457"/>
            <a:ext cx="8207375" cy="447675"/>
          </a:xfrm>
        </p:spPr>
        <p:txBody>
          <a:bodyPr/>
          <a:lstStyle/>
          <a:p>
            <a:r>
              <a:rPr lang="en-US" sz="2400" dirty="0"/>
              <a:t>Integration </a:t>
            </a:r>
            <a:r>
              <a:rPr lang="en-US" sz="2400" dirty="0" err="1"/>
              <a:t>historischer</a:t>
            </a:r>
            <a:r>
              <a:rPr lang="en-US" sz="2400" dirty="0"/>
              <a:t> </a:t>
            </a:r>
            <a:r>
              <a:rPr lang="en-US" sz="2400" dirty="0" err="1"/>
              <a:t>Kriminalitätsstatistiken</a:t>
            </a:r>
            <a:r>
              <a:rPr lang="en-US" sz="2400" dirty="0"/>
              <a:t> in Deutschland (1984–2024)</a:t>
            </a:r>
            <a:endParaRPr lang="de-DE" sz="2400" b="0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9EC0D7E-4F82-4D7C-AA83-F132976490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>
                <a:solidFill>
                  <a:schemeClr val="tx2"/>
                </a:solidFill>
              </a:rPr>
              <a:t>Justin Bergmann | 05.04.2026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376D345-6C51-559F-9500-F73965DB31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94782" y="958620"/>
            <a:ext cx="2960856" cy="1832910"/>
          </a:xfrm>
          <a:prstGeom prst="rect">
            <a:avLst/>
          </a:prstGeom>
        </p:spPr>
      </p:pic>
      <p:pic>
        <p:nvPicPr>
          <p:cNvPr id="3" name="Picture 2" descr="A blue and black text&#10;&#10;AI-generated content may be incorrect.">
            <a:extLst>
              <a:ext uri="{FF2B5EF4-FFF2-40B4-BE49-F238E27FC236}">
                <a16:creationId xmlns:a16="http://schemas.microsoft.com/office/drawing/2014/main" id="{9D6EBBA1-F7AC-FC81-2821-799009BE5A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24" y="1259175"/>
            <a:ext cx="4043427" cy="118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796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71AD577-0745-430E-A382-84DD4DC645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Informationsintegration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569F98F-435D-4ABB-AE40-FA29924267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Justin Bergmann | 05.04.2026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681234-D78A-45DE-B8D7-1D67513E98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Inhaltsverzeichnis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CEA19B9-3E31-470C-B1E4-A3D745DC8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2438" y="1095376"/>
            <a:ext cx="8239125" cy="335416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Motivation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Data </a:t>
            </a:r>
            <a:r>
              <a:rPr lang="de-DE" dirty="0" err="1"/>
              <a:t>Extraction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Schema Mapping &amp; Data Translation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Identity Resolution (</a:t>
            </a:r>
            <a:r>
              <a:rPr lang="de-DE" dirty="0" err="1"/>
              <a:t>Record</a:t>
            </a:r>
            <a:r>
              <a:rPr lang="de-DE" dirty="0"/>
              <a:t> </a:t>
            </a:r>
            <a:r>
              <a:rPr lang="de-DE" dirty="0" err="1"/>
              <a:t>Linkage</a:t>
            </a:r>
            <a:r>
              <a:rPr lang="de-DE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Data Fusion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Data Quality Assessment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Analyse &amp; Ergebnisse (Der Überrepräsentationsfaktor)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Fazit &amp; </a:t>
            </a:r>
            <a:r>
              <a:rPr lang="de-DE" dirty="0" err="1"/>
              <a:t>Learnings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56244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F753D-22FF-8AB9-1ECC-49FB79DB8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D46CAB8-EFC7-FC18-D94B-F2D8288F0A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Informationsintegration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86A3D51-ACAF-518D-D4B0-4F2017ECB2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Justin Bergmann | 05.04.2026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49EEF27-702B-8026-EAA0-836A8893CA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Motivation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812F6801-2DEF-250E-D662-2A31DEC726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2438" y="1208314"/>
            <a:ext cx="8373155" cy="316774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b="1" dirty="0"/>
              <a:t>Ausgangslage:</a:t>
            </a:r>
            <a:r>
              <a:rPr lang="de-DE" sz="1600" dirty="0"/>
              <a:t> Häufige pro-Kopf-Überrepräsentation von Nichtdeutschen in polizeilichen Statistiken.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b="1" dirty="0"/>
              <a:t>Forschungsfrage:</a:t>
            </a:r>
            <a:r>
              <a:rPr lang="de-DE" sz="1600" dirty="0"/>
              <a:t> Spiegelt dies die reale Kriminalität wider oder gibt es Indizien für </a:t>
            </a:r>
            <a:r>
              <a:rPr lang="de-DE" sz="1600" dirty="0" err="1"/>
              <a:t>Racial</a:t>
            </a:r>
            <a:r>
              <a:rPr lang="de-DE" sz="1600" dirty="0"/>
              <a:t> </a:t>
            </a:r>
            <a:r>
              <a:rPr lang="de-DE" sz="1600" dirty="0" err="1"/>
              <a:t>Profiling</a:t>
            </a:r>
            <a:r>
              <a:rPr lang="de-DE" sz="1600" dirty="0"/>
              <a:t> (erhöhter Kontrolldruck)?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b="1" dirty="0"/>
              <a:t>Datengetriebener Ansatz: </a:t>
            </a:r>
            <a:r>
              <a:rPr lang="de-DE" sz="1600" dirty="0"/>
              <a:t>Direkter Vergleich von ermittelten Tatverdächtigen (PKS) und rechtskräftig Verurteilten (Justizstatistik) nach Nationalität.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b="1" dirty="0"/>
              <a:t>Technische Herausforderung: </a:t>
            </a:r>
            <a:r>
              <a:rPr lang="de-DE" sz="1600" dirty="0"/>
              <a:t>Harmonisierung dreier isolierter, strukturell heterogener Datensätze (PKS, Destatis Justiz &amp; Zensus) in ein einheitliches Master-Schema.</a:t>
            </a:r>
          </a:p>
        </p:txBody>
      </p:sp>
    </p:spTree>
    <p:extLst>
      <p:ext uri="{BB962C8B-B14F-4D97-AF65-F5344CB8AC3E}">
        <p14:creationId xmlns:p14="http://schemas.microsoft.com/office/powerpoint/2010/main" val="217589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56E65-B555-79E9-6440-0AEBF4CB6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BCDF89A-6B20-5139-9010-8A8E54C935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Informationsintegration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55EA83-3E94-92D5-6F9C-0F7DF80E2D0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Justin Bergmann | 05.04.2026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3FC57B5-5D4F-A8A7-B25D-3E26A4445F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Data </a:t>
            </a:r>
            <a:r>
              <a:rPr lang="de-DE" dirty="0" err="1"/>
              <a:t>Extraction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778CE98-0529-BE58-DDFF-512D4FD309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2437" y="938893"/>
            <a:ext cx="8601756" cy="3371849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b="1" dirty="0"/>
              <a:t>Polizeiliche Kriminalstatistik (BKA):</a:t>
            </a:r>
          </a:p>
          <a:p>
            <a:pPr marL="774900" lvl="1" indent="-342900"/>
            <a:r>
              <a:rPr lang="de-DE" sz="1600" dirty="0"/>
              <a:t>Manuelle Extraktion von unstrukturierten Excel-Zeitreihen.</a:t>
            </a:r>
          </a:p>
          <a:p>
            <a:pPr marL="774900" lvl="1" indent="-342900"/>
            <a:r>
              <a:rPr lang="de-DE" sz="1600" dirty="0"/>
              <a:t>Strategischer Split: Bewusster Download in zwei getrennten Dateien ("Deutsch" / "Nichtdeutsch"), um das verbindende Attribut "Nationalität" zu sichern.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b="1" dirty="0"/>
              <a:t>Justiz- &amp; Bevölkerungsstatistik (Destatis):</a:t>
            </a:r>
          </a:p>
          <a:p>
            <a:pPr marL="774900" lvl="1" indent="-342900"/>
            <a:r>
              <a:rPr lang="de-DE" sz="1600" dirty="0"/>
              <a:t>Automatisierter Abruf über die Genesis-API.</a:t>
            </a:r>
          </a:p>
          <a:p>
            <a:pPr marL="774900" lvl="1" indent="-342900"/>
            <a:r>
              <a:rPr lang="de-DE" sz="1600" dirty="0"/>
              <a:t>Ausgabeformat: Maschinenlesbare Flat-File-CSVs.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800" b="1" dirty="0"/>
              <a:t>Strukturelle Hürden (Heterogenität):</a:t>
            </a:r>
          </a:p>
          <a:p>
            <a:pPr marL="774900" lvl="1" indent="-342900"/>
            <a:r>
              <a:rPr lang="de-DE" sz="1600" dirty="0"/>
              <a:t>Extreme Unterschiede in der Granularität (Justiz enthält Alter/Geschlecht, Bevölkerung basiert auf Stichtagen und Bundesländern).</a:t>
            </a:r>
          </a:p>
        </p:txBody>
      </p:sp>
    </p:spTree>
    <p:extLst>
      <p:ext uri="{BB962C8B-B14F-4D97-AF65-F5344CB8AC3E}">
        <p14:creationId xmlns:p14="http://schemas.microsoft.com/office/powerpoint/2010/main" val="3326593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4EAA5-8FF2-513F-325A-239841BFF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486E959-8F7C-3768-FE0E-A070E7B4C9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Informationsintegration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011C071-AB5D-3EA2-6A90-E9ADABF2A8C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Justin Bergmann | 05.04.2026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A5FC90A-C47B-DC38-D11E-B52325ED4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Schema Mapping &amp; Data Translation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2F42E9BC-FBBA-7E8D-98AB-4A93EC9233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2437" y="1102179"/>
            <a:ext cx="8464153" cy="305344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b="1" dirty="0"/>
              <a:t>Methode:</a:t>
            </a:r>
            <a:r>
              <a:rPr lang="de-DE" sz="2000" dirty="0"/>
              <a:t> Global-</a:t>
            </a:r>
            <a:r>
              <a:rPr lang="de-DE" sz="2000" dirty="0" err="1"/>
              <a:t>as</a:t>
            </a:r>
            <a:r>
              <a:rPr lang="de-DE" sz="2000" dirty="0"/>
              <a:t>-View (GAV)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b="1" dirty="0"/>
              <a:t>Ziel:</a:t>
            </a:r>
            <a:r>
              <a:rPr lang="de-DE" sz="2000" dirty="0"/>
              <a:t> Einheitliches Master-Schema für den finalen </a:t>
            </a:r>
            <a:r>
              <a:rPr lang="de-DE" sz="2000" dirty="0" err="1"/>
              <a:t>Join</a:t>
            </a:r>
            <a:r>
              <a:rPr lang="de-DE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b="1" dirty="0"/>
              <a:t>Kern-Transformationen:</a:t>
            </a:r>
            <a:endParaRPr lang="de-DE" sz="2000" dirty="0"/>
          </a:p>
          <a:p>
            <a:pPr marL="774900" lvl="1" indent="-342900"/>
            <a:r>
              <a:rPr lang="de-DE" sz="1800" dirty="0"/>
              <a:t>PKS: "</a:t>
            </a:r>
            <a:r>
              <a:rPr lang="de-DE" sz="1800" dirty="0" err="1"/>
              <a:t>Unpivoting</a:t>
            </a:r>
            <a:r>
              <a:rPr lang="de-DE" sz="1800" dirty="0"/>
              <a:t>" (Wide- zu Long-Format) zur Extraktion der Nationalität.</a:t>
            </a:r>
          </a:p>
          <a:p>
            <a:pPr marL="774900" lvl="1" indent="-342900"/>
            <a:r>
              <a:rPr lang="de-DE" sz="1800" dirty="0"/>
              <a:t>Justiz: Aggregation der hochgranularen Daten (Wegfall von Alter &amp; Geschlecht).</a:t>
            </a:r>
          </a:p>
          <a:p>
            <a:pPr marL="774900" lvl="1" indent="-342900"/>
            <a:r>
              <a:rPr lang="de-DE" sz="1800" dirty="0"/>
              <a:t>Bevölkerung: Harmonisierung der Stichtage auf reine Jahreszahlen.</a:t>
            </a:r>
          </a:p>
        </p:txBody>
      </p:sp>
    </p:spTree>
    <p:extLst>
      <p:ext uri="{BB962C8B-B14F-4D97-AF65-F5344CB8AC3E}">
        <p14:creationId xmlns:p14="http://schemas.microsoft.com/office/powerpoint/2010/main" val="74001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3303B-9142-C8F2-284F-FFCD479C2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C13991F-AFE2-D1A2-090E-7DEFC4A90B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Informationsintegration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A217C-4D3C-14E4-D742-AC9477DA1DC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Justin Bergmann | 05.04.2026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323CA5E-7337-FBDA-5C40-684B32656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Identity Resolution (</a:t>
            </a:r>
            <a:r>
              <a:rPr lang="de-DE" dirty="0" err="1"/>
              <a:t>Record</a:t>
            </a:r>
            <a:r>
              <a:rPr lang="de-DE" dirty="0"/>
              <a:t> </a:t>
            </a:r>
            <a:r>
              <a:rPr lang="de-DE" dirty="0" err="1"/>
              <a:t>Linkage</a:t>
            </a:r>
            <a:r>
              <a:rPr lang="de-DE" dirty="0"/>
              <a:t>)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8F3363B2-B2DF-460E-D5BA-144BF5D1A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2437" y="1110343"/>
            <a:ext cx="8536441" cy="3339193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800" b="1" dirty="0"/>
              <a:t>Das Problem: </a:t>
            </a:r>
            <a:r>
              <a:rPr lang="de-DE" sz="1800" dirty="0"/>
              <a:t>Semantische Lücke zwischen 905 spezifischen Polizei-Delikten und 21 abstrakten Justiz-Kategorien.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800" b="1" dirty="0"/>
              <a:t>Die Methode: </a:t>
            </a:r>
            <a:r>
              <a:rPr lang="de-DE" sz="1800" dirty="0"/>
              <a:t>Erstellung eines "Many-</a:t>
            </a:r>
            <a:r>
              <a:rPr lang="de-DE" sz="1800" dirty="0" err="1"/>
              <a:t>to</a:t>
            </a:r>
            <a:r>
              <a:rPr lang="de-DE" sz="1800" dirty="0"/>
              <a:t>-</a:t>
            </a:r>
            <a:r>
              <a:rPr lang="de-DE" sz="1800" dirty="0" err="1"/>
              <a:t>One</a:t>
            </a:r>
            <a:r>
              <a:rPr lang="de-DE" sz="1800" dirty="0"/>
              <a:t>" Mapping-</a:t>
            </a:r>
            <a:r>
              <a:rPr lang="de-DE" sz="1800" dirty="0" err="1"/>
              <a:t>Dictionaries</a:t>
            </a:r>
            <a:r>
              <a:rPr lang="de-DE" sz="18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800" b="1" dirty="0"/>
              <a:t>Der hybride Algorithmus (Python):</a:t>
            </a:r>
            <a:endParaRPr lang="de-DE" sz="1800" dirty="0"/>
          </a:p>
          <a:p>
            <a:pPr marL="774900" lvl="1" indent="-342900"/>
            <a:r>
              <a:rPr lang="de-DE" sz="1600" dirty="0"/>
              <a:t>Heuristiken (Regelbasiert): Automatisches Mapping über juristische Schlüsselwörter (z. B. "</a:t>
            </a:r>
            <a:r>
              <a:rPr lang="de-DE" sz="1600" dirty="0" err="1"/>
              <a:t>BtmG</a:t>
            </a:r>
            <a:r>
              <a:rPr lang="de-DE" sz="1600" dirty="0"/>
              <a:t>", "Mord").</a:t>
            </a:r>
            <a:br>
              <a:rPr lang="de-DE" sz="1600" dirty="0"/>
            </a:br>
            <a:endParaRPr lang="de-DE" sz="1600" dirty="0"/>
          </a:p>
          <a:p>
            <a:pPr marL="774900" lvl="1" indent="-342900"/>
            <a:r>
              <a:rPr lang="de-DE" sz="1600" dirty="0" err="1"/>
              <a:t>Fuzzy</a:t>
            </a:r>
            <a:r>
              <a:rPr lang="de-DE" sz="1600" dirty="0"/>
              <a:t> String </a:t>
            </a:r>
            <a:r>
              <a:rPr lang="de-DE" sz="1600" dirty="0" err="1"/>
              <a:t>Matching</a:t>
            </a:r>
            <a:r>
              <a:rPr lang="de-DE" sz="1600" dirty="0"/>
              <a:t>: Lexikalische Textähnlichkeit (</a:t>
            </a:r>
            <a:r>
              <a:rPr lang="de-DE" sz="1600" dirty="0" err="1"/>
              <a:t>difflib</a:t>
            </a:r>
            <a:r>
              <a:rPr lang="de-DE" sz="1600" dirty="0"/>
              <a:t>) für die verbleibenden Delikte (mit striktem Schwellenwert zur Vermeidung von "</a:t>
            </a:r>
            <a:r>
              <a:rPr lang="de-DE" sz="1600" dirty="0" err="1"/>
              <a:t>False</a:t>
            </a:r>
            <a:r>
              <a:rPr lang="de-DE" sz="1600" dirty="0"/>
              <a:t> Positives").</a:t>
            </a:r>
            <a:br>
              <a:rPr lang="de-DE" sz="1600" dirty="0"/>
            </a:br>
            <a:endParaRPr lang="de-DE" sz="1600" dirty="0"/>
          </a:p>
          <a:p>
            <a:pPr marL="774900" lvl="1" indent="-342900"/>
            <a:r>
              <a:rPr lang="de-DE" sz="1600" dirty="0"/>
              <a:t>Human-in-</a:t>
            </a:r>
            <a:r>
              <a:rPr lang="de-DE" sz="1600" dirty="0" err="1"/>
              <a:t>the</a:t>
            </a:r>
            <a:r>
              <a:rPr lang="de-DE" sz="1600" dirty="0"/>
              <a:t>-Loop: Manuelles Fine-Tuning der letzten Edge-Cases.</a:t>
            </a:r>
          </a:p>
        </p:txBody>
      </p:sp>
    </p:spTree>
    <p:extLst>
      <p:ext uri="{BB962C8B-B14F-4D97-AF65-F5344CB8AC3E}">
        <p14:creationId xmlns:p14="http://schemas.microsoft.com/office/powerpoint/2010/main" val="2235490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234B6-6012-1EF8-D338-44C982C69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4C6DE706-7A49-7B1C-2734-1982C659D9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Informationsintegration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D3AD1E-B455-03DF-D15C-498044D4BF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Justin Bergmann | 05.04.2026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3C381CE-98BC-5CF4-24C4-6A6580FE0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Data Fusion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CDBAD8B-5933-4989-5BFE-2F9B03009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2437" y="1167493"/>
            <a:ext cx="8536442" cy="320856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800" b="1" dirty="0"/>
              <a:t>Der Master-</a:t>
            </a:r>
            <a:r>
              <a:rPr lang="de-DE" sz="1800" b="1" dirty="0" err="1"/>
              <a:t>Join</a:t>
            </a:r>
            <a:r>
              <a:rPr lang="de-DE" sz="1800" b="1" dirty="0"/>
              <a:t>: </a:t>
            </a:r>
            <a:r>
              <a:rPr lang="de-DE" sz="1800" dirty="0"/>
              <a:t>Verschmelzung von Polizei- und Justizdaten (Outer </a:t>
            </a:r>
            <a:r>
              <a:rPr lang="de-DE" sz="1800" dirty="0" err="1"/>
              <a:t>Join</a:t>
            </a:r>
            <a:r>
              <a:rPr lang="de-DE" sz="1800" dirty="0"/>
              <a:t>) über Jahr, Nationalität und </a:t>
            </a:r>
            <a:r>
              <a:rPr lang="de-DE" sz="1800" dirty="0" err="1"/>
              <a:t>Straftat_gemappt</a:t>
            </a:r>
            <a:r>
              <a:rPr lang="de-DE" sz="18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800" b="1" dirty="0"/>
              <a:t>Die Anreicherung: </a:t>
            </a:r>
            <a:r>
              <a:rPr lang="de-DE" sz="1800" dirty="0"/>
              <a:t>Anheften der historischen Bevölkerungsdaten (</a:t>
            </a:r>
            <a:r>
              <a:rPr lang="de-DE" sz="1800" dirty="0" err="1"/>
              <a:t>Left</a:t>
            </a:r>
            <a:r>
              <a:rPr lang="de-DE" sz="1800" dirty="0"/>
              <a:t> </a:t>
            </a:r>
            <a:r>
              <a:rPr lang="de-DE" sz="1800" dirty="0" err="1"/>
              <a:t>Join</a:t>
            </a:r>
            <a:r>
              <a:rPr lang="de-DE" sz="1800" dirty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800" b="1" dirty="0"/>
              <a:t>Datenbereinigung (Bugfixing): </a:t>
            </a:r>
            <a:r>
              <a:rPr lang="de-DE" sz="1800" dirty="0"/>
              <a:t>Herausfiltern von Polizei-Sammelkategorien (z.B. "Straftaten insgesamt"), um massive Doppelzählungen zu verhindern.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800" b="1" dirty="0"/>
              <a:t>Feature Engineering: </a:t>
            </a:r>
            <a:r>
              <a:rPr lang="de-DE" sz="1800" dirty="0"/>
              <a:t>Berechnung der vergleichbaren Kriminalitätsraten (Fälle pro 100.000 Einwohner).</a:t>
            </a:r>
          </a:p>
        </p:txBody>
      </p:sp>
    </p:spTree>
    <p:extLst>
      <p:ext uri="{BB962C8B-B14F-4D97-AF65-F5344CB8AC3E}">
        <p14:creationId xmlns:p14="http://schemas.microsoft.com/office/powerpoint/2010/main" val="291667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34B8D-88CC-EDAE-884C-7EEBD555A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22C1C75-646F-B0BA-370A-A1AAFCAF1A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Informationsintegration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87E01C4-003E-AF6F-9072-BD1496A2B2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Justin Bergmann | 05.04.2026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E7C6D6C-007C-B828-05C1-A82B5CEA3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Data Quality Assessment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E46C68D-B4C8-EDAB-706D-052680E88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9697" y="1314450"/>
            <a:ext cx="8689182" cy="313508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b="1" dirty="0"/>
              <a:t>Historische Lücken (</a:t>
            </a:r>
            <a:r>
              <a:rPr lang="de-DE" sz="1600" b="1" dirty="0" err="1"/>
              <a:t>Missing</a:t>
            </a:r>
            <a:r>
              <a:rPr lang="de-DE" sz="1600" b="1" dirty="0"/>
              <a:t> Data):</a:t>
            </a:r>
            <a:r>
              <a:rPr lang="de-DE" sz="1600" dirty="0"/>
              <a:t> Sichtbare Nullwerte in den polizeilichen Zeitreihen (z. B. 1984–1986) durch Platzhalter im Ursprungsformat.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b="1" dirty="0"/>
              <a:t>Der "Wiedervereinigungs-Effekt":</a:t>
            </a:r>
            <a:r>
              <a:rPr lang="de-DE" sz="1600" dirty="0"/>
              <a:t> Strukturbruch um 1990 (Sprung der Gesamtbevölkerung) erschwert absolute Längsschnittvergleiche.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b="1" dirty="0" err="1"/>
              <a:t>Granularitätsverlust</a:t>
            </a:r>
            <a:r>
              <a:rPr lang="de-DE" sz="1600" b="1" dirty="0"/>
              <a:t>:</a:t>
            </a:r>
            <a:r>
              <a:rPr lang="de-DE" sz="1600" dirty="0"/>
              <a:t> Die Identity Resolution erforderte die Aggregation hochspezifischer BKA-Delikte auf abstraktere Justiz-Kategorien.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b="1" dirty="0"/>
              <a:t>Optimierungspotenzial:</a:t>
            </a:r>
            <a:r>
              <a:rPr lang="de-DE" sz="1600" dirty="0"/>
              <a:t> Zukünftige Alterskorrektur (Herausrechnen von Kindern unter 14 Jahren) zur präziseren Berechnung der Kriminalitätsraten.</a:t>
            </a:r>
          </a:p>
        </p:txBody>
      </p:sp>
    </p:spTree>
    <p:extLst>
      <p:ext uri="{BB962C8B-B14F-4D97-AF65-F5344CB8AC3E}">
        <p14:creationId xmlns:p14="http://schemas.microsoft.com/office/powerpoint/2010/main" val="2110177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F1659-19A2-0D7D-F134-276926E69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8080A45-4C94-AA34-B466-BA21F76BBE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Informationsintegration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4B46124-CCAC-24FA-C574-438C2A5CAC8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Justin Bergmann | 05.04.2026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86D4ED7-9EB9-ED09-1B5C-5873299E3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dirty="0"/>
              <a:t>Analyse &amp; Ergebnisse (Der Überrepräsentationsfaktor)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0C93E3-58B8-1CEB-0A5D-B380E3695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21" y="925678"/>
            <a:ext cx="4212772" cy="20721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79C546-AA70-C2B7-C59B-638B83DA6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3155" y="923081"/>
            <a:ext cx="4212772" cy="2072136"/>
          </a:xfrm>
          <a:prstGeom prst="rect">
            <a:avLst/>
          </a:prstGeom>
        </p:spPr>
      </p:pic>
      <p:sp>
        <p:nvSpPr>
          <p:cNvPr id="8" name="Inhaltsplatzhalter 4">
            <a:extLst>
              <a:ext uri="{FF2B5EF4-FFF2-40B4-BE49-F238E27FC236}">
                <a16:creationId xmlns:a16="http://schemas.microsoft.com/office/drawing/2014/main" id="{BDBD717D-6AD6-AABF-E437-704DAABC8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9696" y="3094264"/>
            <a:ext cx="8476231" cy="135527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b="1" dirty="0"/>
              <a:t>Die Metrik:</a:t>
            </a:r>
            <a:r>
              <a:rPr lang="de-DE" sz="1600" dirty="0"/>
              <a:t> Der "Überrepräsentationsfaktor" (Rate der Nichtdeutschen geteilt durch Rate der Deutschen). Ein Faktor von 1.0 bedeutet absolute Gleichverteilung.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b="1" dirty="0"/>
              <a:t>Fazit zur Forschungsfrage:</a:t>
            </a:r>
            <a:r>
              <a:rPr lang="de-DE" sz="1600" dirty="0"/>
              <a:t> Diskrepanz zwischen Verdacht und Verurteilung liefert starke datengetriebene Indizien für selektive Wahrnehmung / erhöhten Kontrolldruck.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2495063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EA1CA-1629-6E4A-AE68-2FBEF8B8C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F1302D6-6D23-D4A9-0A87-D411B69297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Informationsintegration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A0635C4-7D2A-2684-BEB2-830850D6DD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Justin Bergmann | 05.04.2026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DCBC24F-D396-B361-239E-915A8D381D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Fazit &amp; </a:t>
            </a:r>
            <a:r>
              <a:rPr lang="de-DE" dirty="0" err="1"/>
              <a:t>Learnings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5FB6A4C-BDD0-228F-53E7-1D83BD86C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2438" y="1167494"/>
            <a:ext cx="8552769" cy="308610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b="1" dirty="0"/>
              <a:t>Inhaltliche Erkenntnis: </a:t>
            </a:r>
            <a:r>
              <a:rPr lang="de-DE" sz="1600" dirty="0"/>
              <a:t>Die statistische Diskrepanz zwischen Eingang (Tatverdacht) und Ausgang (Verurteilung) stützt die Hypothese einer strukturellen Verzerrung.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b="1" dirty="0"/>
              <a:t>Technische Erkenntnis 1 (Identity Resolution): </a:t>
            </a:r>
            <a:r>
              <a:rPr lang="de-DE" sz="1600" dirty="0"/>
              <a:t>Bei juristischem Fachvokabular schlägt ein hybrider Ansatz (Domänen-Regeln + </a:t>
            </a:r>
            <a:r>
              <a:rPr lang="de-DE" sz="1600" dirty="0" err="1"/>
              <a:t>Fuzzy</a:t>
            </a:r>
            <a:r>
              <a:rPr lang="de-DE" sz="1600" dirty="0"/>
              <a:t> </a:t>
            </a:r>
            <a:r>
              <a:rPr lang="de-DE" sz="1600" dirty="0" err="1"/>
              <a:t>Matching</a:t>
            </a:r>
            <a:r>
              <a:rPr lang="de-DE" sz="1600" dirty="0"/>
              <a:t>) rein algorithmische Methoden deutlich.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b="1" dirty="0"/>
              <a:t>Technische Erkenntnis 2 (Data Quality):</a:t>
            </a:r>
            <a:r>
              <a:rPr lang="de-DE" sz="1600" dirty="0"/>
              <a:t> Versteckte Hierarchien in Tabellen (wie PKS-Sammelkategorien) sind das größte Risiko für fatale Doppelzählungen bei der Datenfusion.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600" b="1" dirty="0"/>
              <a:t>Gesamtfazit:</a:t>
            </a:r>
            <a:r>
              <a:rPr lang="de-DE" sz="1600" dirty="0"/>
              <a:t> Erfolgreiche Data Fusion ist nicht nur ein technischer SQL-</a:t>
            </a:r>
            <a:r>
              <a:rPr lang="de-DE" sz="1600" dirty="0" err="1"/>
              <a:t>Join</a:t>
            </a:r>
            <a:r>
              <a:rPr lang="de-DE" sz="1600" dirty="0"/>
              <a:t>, sondern erfordert zwingend tiefes inhaltliches Domänenwissen.</a:t>
            </a:r>
          </a:p>
        </p:txBody>
      </p:sp>
    </p:spTree>
    <p:extLst>
      <p:ext uri="{BB962C8B-B14F-4D97-AF65-F5344CB8AC3E}">
        <p14:creationId xmlns:p14="http://schemas.microsoft.com/office/powerpoint/2010/main" val="3510241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4D67665D-A8B7-4916-8278-DA9462A0A3E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/>
              <a:t>Vielen Dank für Ihre Aufmerksamkeit!</a:t>
            </a:r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9EC0D7E-4F82-4D7C-AA83-F132976490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Justin Bergmann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3139DB-06F2-164B-53C7-DE0341D27BD5}"/>
              </a:ext>
            </a:extLst>
          </p:cNvPr>
          <p:cNvSpPr txBox="1"/>
          <p:nvPr/>
        </p:nvSpPr>
        <p:spPr>
          <a:xfrm>
            <a:off x="963386" y="1648420"/>
            <a:ext cx="527900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"If you torture the data long enough, it will confess."</a:t>
            </a:r>
          </a:p>
          <a:p>
            <a:endParaRPr lang="en-US" sz="2000" i="1" dirty="0"/>
          </a:p>
          <a:p>
            <a:r>
              <a:rPr lang="en-US" sz="2000" b="1" i="1" dirty="0"/>
              <a:t>– Ronald H. Coase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061411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A437D-A130-1559-6F35-EAC5724F4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5A2E1C4-4CB7-A181-4D83-844068657E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Informationsintegration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85A00E0-6E20-A5E1-F649-67B5D712F7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Justin Bergmann | 05.04.2026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19FC6EA-D3F2-022B-9F9F-8CD833CCF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Quellenverzeichnis</a:t>
            </a:r>
          </a:p>
          <a:p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BA059B80-562B-5EB2-CD5A-805A9E81C8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2438" y="1167494"/>
            <a:ext cx="8552769" cy="1404256"/>
          </a:xfrm>
        </p:spPr>
        <p:txBody>
          <a:bodyPr>
            <a:normAutofit/>
          </a:bodyPr>
          <a:lstStyle/>
          <a:p>
            <a:r>
              <a:rPr lang="de-DE" sz="1600" b="1" dirty="0"/>
              <a:t>https://</a:t>
            </a:r>
            <a:r>
              <a:rPr lang="de-DE" sz="1600" b="1" dirty="0" err="1"/>
              <a:t>de.linkedin.com</a:t>
            </a:r>
            <a:r>
              <a:rPr lang="de-DE" sz="1600" b="1" dirty="0"/>
              <a:t>/</a:t>
            </a:r>
            <a:r>
              <a:rPr lang="de-DE" sz="1600" b="1" dirty="0" err="1"/>
              <a:t>posts</a:t>
            </a:r>
            <a:r>
              <a:rPr lang="de-DE" sz="1600" b="1" dirty="0"/>
              <a:t>/statistisches-bundesamt-destatis_statistischesbundesamt-datenbank-activity-7346424773578551296-ygUL</a:t>
            </a:r>
          </a:p>
          <a:p>
            <a:r>
              <a:rPr lang="de-DE" sz="1600" b="1" dirty="0"/>
              <a:t> https://</a:t>
            </a:r>
            <a:r>
              <a:rPr lang="de-DE" sz="1600" b="1" dirty="0" err="1"/>
              <a:t>www.bka.de</a:t>
            </a:r>
            <a:r>
              <a:rPr lang="de-DE" sz="1600" b="1" dirty="0"/>
              <a:t>/DE/</a:t>
            </a:r>
            <a:r>
              <a:rPr lang="de-DE" sz="1600" b="1" dirty="0" err="1"/>
              <a:t>AktuelleInformationen</a:t>
            </a:r>
            <a:r>
              <a:rPr lang="de-DE" sz="1600" b="1" dirty="0"/>
              <a:t>/</a:t>
            </a:r>
            <a:r>
              <a:rPr lang="de-DE" sz="1600" b="1" dirty="0" err="1"/>
              <a:t>StatistikenLagebilder</a:t>
            </a:r>
            <a:r>
              <a:rPr lang="de-DE" sz="1600" b="1" dirty="0"/>
              <a:t>/</a:t>
            </a:r>
            <a:r>
              <a:rPr lang="de-DE" sz="1600" b="1" dirty="0" err="1"/>
              <a:t>PolizeilicheKriminalstatistik</a:t>
            </a:r>
            <a:r>
              <a:rPr lang="de-DE" sz="1600" b="1" dirty="0"/>
              <a:t>/</a:t>
            </a:r>
            <a:r>
              <a:rPr lang="de-DE" sz="1600" b="1" dirty="0" err="1"/>
              <a:t>pks_node.html</a:t>
            </a:r>
            <a:endParaRPr lang="de-DE" sz="1600" b="1" dirty="0"/>
          </a:p>
        </p:txBody>
      </p:sp>
    </p:spTree>
    <p:extLst>
      <p:ext uri="{BB962C8B-B14F-4D97-AF65-F5344CB8AC3E}">
        <p14:creationId xmlns:p14="http://schemas.microsoft.com/office/powerpoint/2010/main" val="3443649224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| Titelfolie">
  <a:themeElements>
    <a:clrScheme name="Universität">
      <a:dk1>
        <a:srgbClr val="002F5D"/>
      </a:dk1>
      <a:lt1>
        <a:srgbClr val="FFFFFF"/>
      </a:lt1>
      <a:dk2>
        <a:srgbClr val="002F5D"/>
      </a:dk2>
      <a:lt2>
        <a:srgbClr val="FFFFFF"/>
      </a:lt2>
      <a:accent1>
        <a:srgbClr val="AE9A63"/>
      </a:accent1>
      <a:accent2>
        <a:srgbClr val="7682A5"/>
      </a:accent2>
      <a:accent3>
        <a:srgbClr val="8E98B7"/>
      </a:accent3>
      <a:accent4>
        <a:srgbClr val="FFFFFF"/>
      </a:accent4>
      <a:accent5>
        <a:srgbClr val="FFFFFF"/>
      </a:accent5>
      <a:accent6>
        <a:srgbClr val="FFFFFF"/>
      </a:accent6>
      <a:hlink>
        <a:srgbClr val="7682A5"/>
      </a:hlink>
      <a:folHlink>
        <a:srgbClr val="A8AFC8"/>
      </a:folHlink>
    </a:clrScheme>
    <a:fontScheme name="UniJena_Hausschrift_Roboto">
      <a:majorFont>
        <a:latin typeface="Roboto Serif"/>
        <a:ea typeface=""/>
        <a:cs typeface=""/>
      </a:majorFont>
      <a:minorFont>
        <a:latin typeface="Roboto Condensed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alpha val="8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Uni Jena PowerPoint-Präsentation simpel 16zu9-Vorlage" id="{FCCC3755-4927-6F40-8D6E-443D4E23719B}" vid="{A5A41FBA-E7E8-204A-B60B-EED3701CD955}"/>
    </a:ext>
  </a:extLst>
</a:theme>
</file>

<file path=ppt/theme/theme2.xml><?xml version="1.0" encoding="utf-8"?>
<a:theme xmlns:a="http://schemas.openxmlformats.org/drawingml/2006/main" name="Master | Inhaltseiten">
  <a:themeElements>
    <a:clrScheme name="Universität">
      <a:dk1>
        <a:srgbClr val="002F5D"/>
      </a:dk1>
      <a:lt1>
        <a:srgbClr val="FFFFFF"/>
      </a:lt1>
      <a:dk2>
        <a:srgbClr val="002F5D"/>
      </a:dk2>
      <a:lt2>
        <a:srgbClr val="FFFFFF"/>
      </a:lt2>
      <a:accent1>
        <a:srgbClr val="AE9A63"/>
      </a:accent1>
      <a:accent2>
        <a:srgbClr val="7682A5"/>
      </a:accent2>
      <a:accent3>
        <a:srgbClr val="8E98B7"/>
      </a:accent3>
      <a:accent4>
        <a:srgbClr val="FFFFFF"/>
      </a:accent4>
      <a:accent5>
        <a:srgbClr val="FFFFFF"/>
      </a:accent5>
      <a:accent6>
        <a:srgbClr val="FFFFFF"/>
      </a:accent6>
      <a:hlink>
        <a:srgbClr val="7682A5"/>
      </a:hlink>
      <a:folHlink>
        <a:srgbClr val="A8AFC8"/>
      </a:folHlink>
    </a:clrScheme>
    <a:fontScheme name="UniJena_Hausschrift_Roboto">
      <a:majorFont>
        <a:latin typeface="Roboto Serif"/>
        <a:ea typeface=""/>
        <a:cs typeface=""/>
      </a:majorFont>
      <a:minorFont>
        <a:latin typeface="Roboto Condensed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alpha val="8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Uni Jena PowerPoint-Präsentation simpel 16zu9-Vorlage" id="{FCCC3755-4927-6F40-8D6E-443D4E23719B}" vid="{AB44FE18-AF59-DD48-9B50-316346309FA1}"/>
    </a:ext>
  </a:extLst>
</a:theme>
</file>

<file path=ppt/theme/theme3.xml><?xml version="1.0" encoding="utf-8"?>
<a:theme xmlns:a="http://schemas.openxmlformats.org/drawingml/2006/main" name="Master | Schlussfolie">
  <a:themeElements>
    <a:clrScheme name="Universität">
      <a:dk1>
        <a:srgbClr val="002F5D"/>
      </a:dk1>
      <a:lt1>
        <a:srgbClr val="FFFFFF"/>
      </a:lt1>
      <a:dk2>
        <a:srgbClr val="002F5D"/>
      </a:dk2>
      <a:lt2>
        <a:srgbClr val="FFFFFF"/>
      </a:lt2>
      <a:accent1>
        <a:srgbClr val="AE9A63"/>
      </a:accent1>
      <a:accent2>
        <a:srgbClr val="7682A5"/>
      </a:accent2>
      <a:accent3>
        <a:srgbClr val="8E98B7"/>
      </a:accent3>
      <a:accent4>
        <a:srgbClr val="FFFFFF"/>
      </a:accent4>
      <a:accent5>
        <a:srgbClr val="FFFFFF"/>
      </a:accent5>
      <a:accent6>
        <a:srgbClr val="FFFFFF"/>
      </a:accent6>
      <a:hlink>
        <a:srgbClr val="7682A5"/>
      </a:hlink>
      <a:folHlink>
        <a:srgbClr val="A8AFC8"/>
      </a:folHlink>
    </a:clrScheme>
    <a:fontScheme name="UniJena_Hausschrift_Roboto">
      <a:majorFont>
        <a:latin typeface="Roboto Serif"/>
        <a:ea typeface=""/>
        <a:cs typeface=""/>
      </a:majorFont>
      <a:minorFont>
        <a:latin typeface="Roboto Condensed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alpha val="8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Uni Jena PowerPoint-Präsentation simpel 16zu9-Vorlage" id="{FCCC3755-4927-6F40-8D6E-443D4E23719B}" vid="{EBABBD17-4A96-A145-BA66-910B72641CF3}"/>
    </a:ext>
  </a:extLst>
</a:theme>
</file>

<file path=ppt/theme/theme4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 | Titelfolie</Template>
  <TotalTime>162</TotalTime>
  <Words>786</Words>
  <Application>Microsoft Macintosh PowerPoint</Application>
  <PresentationFormat>On-screen Show (16:9)</PresentationFormat>
  <Paragraphs>121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Roboto Condensed</vt:lpstr>
      <vt:lpstr>Roboto Serif</vt:lpstr>
      <vt:lpstr>Arial</vt:lpstr>
      <vt:lpstr>Calibri</vt:lpstr>
      <vt:lpstr>Master | Titelfolie</vt:lpstr>
      <vt:lpstr>Master | Inhaltseiten</vt:lpstr>
      <vt:lpstr>Master | Schlussfolie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Justin Bergmann</dc:creator>
  <cp:lastModifiedBy>Justin Bergmann</cp:lastModifiedBy>
  <cp:revision>8</cp:revision>
  <cp:lastPrinted>2017-04-12T09:06:57Z</cp:lastPrinted>
  <dcterms:created xsi:type="dcterms:W3CDTF">2026-04-05T19:35:16Z</dcterms:created>
  <dcterms:modified xsi:type="dcterms:W3CDTF">2026-04-06T14:34:26Z</dcterms:modified>
</cp:coreProperties>
</file>